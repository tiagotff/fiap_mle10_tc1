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2D2"/>
    <a:srgbClr val="577194"/>
    <a:srgbClr val="D98E3F"/>
    <a:srgbClr val="E99636"/>
    <a:srgbClr val="FFC000"/>
    <a:srgbClr val="D2D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85A211-7014-2639-B4B4-9C710FCE1654}" v="19" dt="2026-06-28T14:29:49.311"/>
    <p1510:client id="{88413715-0CD2-270D-08AA-4B2FD4070624}" v="32" dt="2026-06-28T22:12:20.985"/>
    <p1510:client id="{9C2D4FBA-F40E-43BD-7486-E1CCDFA66667}" v="398" dt="2026-06-28T17:33:08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6295B-51C7-433F-9B6C-155D76419321}" type="datetimeFigureOut">
              <a:t>28/06/2026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19E53-2BCE-4869-B588-E2422725265F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87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7.png"/><Relationship Id="rId21" Type="http://schemas.openxmlformats.org/officeDocument/2006/relationships/image" Target="../media/image23.png"/><Relationship Id="rId7" Type="http://schemas.openxmlformats.org/officeDocument/2006/relationships/image" Target="../media/image3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4.png"/><Relationship Id="rId24" Type="http://schemas.openxmlformats.org/officeDocument/2006/relationships/image" Target="../media/image26.png"/><Relationship Id="rId5" Type="http://schemas.openxmlformats.org/officeDocument/2006/relationships/image" Target="../media/image9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3.png"/><Relationship Id="rId19" Type="http://schemas.openxmlformats.org/officeDocument/2006/relationships/image" Target="../media/image21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churn-api-855490327597.us-central1.run.app" TargetMode="External"/><Relationship Id="rId3" Type="http://schemas.openxmlformats.org/officeDocument/2006/relationships/image" Target="../media/image27.jpeg"/><Relationship Id="rId7" Type="http://schemas.openxmlformats.org/officeDocument/2006/relationships/hyperlink" Target="https://www.linkedin.com/in/tiagofaustino91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hyperlink" Target="https://github.com/tiagotff/FIAP_MLE10_TC1" TargetMode="External"/><Relationship Id="rId4" Type="http://schemas.openxmlformats.org/officeDocument/2006/relationships/image" Target="../media/image28.png"/><Relationship Id="rId9" Type="http://schemas.openxmlformats.org/officeDocument/2006/relationships/hyperlink" Target="https://churn-api-855490327597.us-central1.run.app/do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594360" cy="594360"/>
          </a:xfrm>
          <a:prstGeom prst="ellipse">
            <a:avLst/>
          </a:prstGeom>
          <a:solidFill>
            <a:srgbClr val="1130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92354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20116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Como saber, </a:t>
            </a:r>
            <a:r>
              <a:rPr lang="en-US" sz="3600" b="1" kern="0" spc="250" dirty="0">
                <a:solidFill>
                  <a:schemeClr val="bg1"/>
                </a:solidFill>
                <a:latin typeface="Cambria"/>
                <a:ea typeface="Cambria"/>
                <a:cs typeface="Calibri"/>
              </a:rPr>
              <a:t>antes do </a:t>
            </a:r>
            <a:r>
              <a:rPr lang="en-US" sz="3600" b="1" kern="0" spc="250" dirty="0" err="1">
                <a:solidFill>
                  <a:schemeClr val="bg1"/>
                </a:solidFill>
                <a:latin typeface="Cambria"/>
                <a:ea typeface="Cambria"/>
                <a:cs typeface="Calibri"/>
              </a:rPr>
              <a:t>cliente</a:t>
            </a:r>
            <a:r>
              <a:rPr lang="en-US" sz="3600" b="1" kern="0" spc="250" dirty="0">
                <a:solidFill>
                  <a:schemeClr val="bg1"/>
                </a:solidFill>
                <a:latin typeface="Cambria"/>
                <a:ea typeface="Cambria"/>
                <a:cs typeface="Calibri"/>
              </a:rPr>
              <a:t>,</a:t>
            </a:r>
            <a:r>
              <a:rPr lang="en-US" sz="36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que</a:t>
            </a:r>
            <a:r>
              <a:rPr lang="en-US" sz="36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ele</a:t>
            </a:r>
            <a:r>
              <a:rPr lang="en-US" sz="36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vai</a:t>
            </a:r>
            <a:r>
              <a:rPr lang="en-US" sz="36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600" b="1" dirty="0">
                <a:solidFill>
                  <a:srgbClr val="E99636"/>
                </a:solidFill>
                <a:latin typeface="Cambria"/>
                <a:ea typeface="Cambria"/>
                <a:cs typeface="Cambria" pitchFamily="34" charset="-120"/>
              </a:rPr>
              <a:t>'</a:t>
            </a:r>
            <a:r>
              <a:rPr lang="en-US" sz="3600" b="1" dirty="0" err="1">
                <a:solidFill>
                  <a:srgbClr val="E99636"/>
                </a:solidFill>
                <a:latin typeface="Cambria"/>
                <a:ea typeface="Cambria"/>
                <a:cs typeface="Cambria" pitchFamily="34" charset="-120"/>
              </a:rPr>
              <a:t>churnar</a:t>
            </a:r>
            <a:r>
              <a:rPr lang="en-US" sz="3600" b="1" dirty="0">
                <a:solidFill>
                  <a:srgbClr val="E99636"/>
                </a:solidFill>
                <a:latin typeface="Cambria"/>
                <a:ea typeface="Cambria"/>
                <a:cs typeface="Cambria" pitchFamily="34" charset="-120"/>
              </a:rPr>
              <a:t>'</a:t>
            </a:r>
            <a:r>
              <a:rPr lang="en-US" sz="36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?</a:t>
            </a:r>
            <a:endParaRPr lang="en-US" sz="3600" dirty="0">
              <a:latin typeface="Cambria"/>
              <a:ea typeface="Cambria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64465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– MLE10 – Machine Learning Engineering    |    github.com/tiagotff/FIAP_MLE10_TC1    |    https://www.linkedin.com/in/tiagofaustino91/</a:t>
            </a:r>
            <a:endParaRPr lang="en-US" sz="105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1CAE434-83B9-526A-C931-846B11C0F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628" y="3197256"/>
            <a:ext cx="5740401" cy="3126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5">
            <a:extLst>
              <a:ext uri="{FF2B5EF4-FFF2-40B4-BE49-F238E27FC236}">
                <a16:creationId xmlns:a16="http://schemas.microsoft.com/office/drawing/2014/main" id="{97ED412B-E2CB-F53A-0664-4D30CF663058}"/>
              </a:ext>
            </a:extLst>
          </p:cNvPr>
          <p:cNvSpPr/>
          <p:nvPr/>
        </p:nvSpPr>
        <p:spPr>
          <a:xfrm>
            <a:off x="805543" y="3717835"/>
            <a:ext cx="4950675" cy="1571894"/>
          </a:xfrm>
          <a:prstGeom prst="roundRect">
            <a:avLst>
              <a:gd name="adj" fmla="val 2778"/>
            </a:avLst>
          </a:prstGeom>
          <a:solidFill>
            <a:schemeClr val="bg1">
              <a:lumMod val="95000"/>
            </a:schemeClr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822960" y="5943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A5A1E"/>
                </a:solidFill>
                <a:latin typeface="Calibri"/>
                <a:ea typeface="Calibri"/>
                <a:cs typeface="Calibri"/>
              </a:rPr>
              <a:t>SITUATION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Um </a:t>
            </a:r>
            <a:r>
              <a:rPr lang="en-US" sz="3200" b="1" dirty="0" err="1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cliente</a:t>
            </a:r>
            <a:r>
              <a:rPr lang="en-US" sz="3200" b="1" dirty="0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avisa</a:t>
            </a:r>
            <a:r>
              <a:rPr lang="en-US" sz="3200" b="1" dirty="0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que</a:t>
            </a:r>
            <a:r>
              <a:rPr lang="en-US" sz="3200" b="1" dirty="0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vai</a:t>
            </a:r>
            <a:r>
              <a:rPr lang="en-US" sz="3200" b="1" dirty="0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cancelar</a:t>
            </a:r>
            <a:r>
              <a:rPr lang="en-US" sz="3200" b="1" dirty="0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200" b="1" dirty="0">
                <a:solidFill>
                  <a:srgbClr val="D98E3F"/>
                </a:solidFill>
                <a:latin typeface="Cambria"/>
                <a:ea typeface="Cambria"/>
                <a:cs typeface="Cambria" pitchFamily="34" charset="-120"/>
              </a:rPr>
              <a:t>antes de </a:t>
            </a:r>
            <a:r>
              <a:rPr lang="en-US" sz="3200" b="1" dirty="0" err="1">
                <a:solidFill>
                  <a:srgbClr val="D98E3F"/>
                </a:solidFill>
                <a:latin typeface="Cambria"/>
                <a:ea typeface="Cambria"/>
                <a:cs typeface="Cambria" pitchFamily="34" charset="-120"/>
              </a:rPr>
              <a:t>cancelar</a:t>
            </a:r>
            <a:r>
              <a:rPr lang="en-US" sz="3200" b="1" dirty="0">
                <a:solidFill>
                  <a:srgbClr val="D98E3F"/>
                </a:solidFill>
                <a:latin typeface="Cambria"/>
                <a:ea typeface="Cambria"/>
                <a:cs typeface="Cambria" pitchFamily="34" charset="-120"/>
              </a:rPr>
              <a:t>?</a:t>
            </a:r>
            <a:endParaRPr lang="en-US" sz="3200">
              <a:solidFill>
                <a:srgbClr val="D98E3F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8445" y="3958772"/>
            <a:ext cx="4852127" cy="103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No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desafio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proposto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analisei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7.043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registros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uma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operadora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telecomunicações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(dataset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público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Telco Customer Churn, IBM) e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encontrei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um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padrão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claro </a:t>
            </a:r>
            <a:endParaRPr lang="en-US" sz="1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60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escondido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nos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dados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38688" y="1881779"/>
            <a:ext cx="4950675" cy="3407951"/>
          </a:xfrm>
          <a:prstGeom prst="roundRect">
            <a:avLst>
              <a:gd name="adj" fmla="val 2778"/>
            </a:avLst>
          </a:prstGeom>
          <a:solidFill>
            <a:schemeClr val="bg1">
              <a:lumMod val="95000"/>
            </a:schemeClr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64465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– MLE10 – Machine Learning Engineering    |    github.com/tiagotff/FIAP_MLE10_TC1    |    https://www.linkedin.com/in/tiagofaustino91/</a:t>
            </a:r>
            <a:endParaRPr lang="en-US" sz="105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A6DECBE3-51CB-A6B2-F6A6-20B6E395BD62}"/>
              </a:ext>
            </a:extLst>
          </p:cNvPr>
          <p:cNvSpPr/>
          <p:nvPr/>
        </p:nvSpPr>
        <p:spPr>
          <a:xfrm>
            <a:off x="811277" y="1877420"/>
            <a:ext cx="1187992" cy="360681"/>
          </a:xfrm>
          <a:prstGeom prst="roundRect">
            <a:avLst>
              <a:gd name="adj" fmla="val 4082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457C5A42-A7D9-048D-9E3B-A073B8D651C0}"/>
              </a:ext>
            </a:extLst>
          </p:cNvPr>
          <p:cNvSpPr/>
          <p:nvPr/>
        </p:nvSpPr>
        <p:spPr>
          <a:xfrm>
            <a:off x="822959" y="1874520"/>
            <a:ext cx="4931956" cy="1056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buNone/>
            </a:pPr>
            <a:r>
              <a:rPr lang="en-US" sz="1600" b="1" dirty="0" err="1">
                <a:solidFill>
                  <a:srgbClr val="D98E3F"/>
                </a:solidFill>
                <a:latin typeface="Calibri"/>
                <a:ea typeface="Calibri"/>
                <a:cs typeface="Calibri"/>
              </a:rPr>
              <a:t>Quase</a:t>
            </a:r>
            <a:r>
              <a:rPr lang="en-US" sz="1600" b="1" dirty="0">
                <a:solidFill>
                  <a:srgbClr val="D98E3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D98E3F"/>
                </a:solidFill>
                <a:latin typeface="Calibri"/>
                <a:ea typeface="Calibri"/>
                <a:cs typeface="Calibri"/>
              </a:rPr>
              <a:t>nunca</a:t>
            </a:r>
            <a:r>
              <a:rPr lang="en-US" sz="1600" b="1" dirty="0">
                <a:solidFill>
                  <a:srgbClr val="D98E3F"/>
                </a:solidFill>
                <a:latin typeface="Calibri"/>
                <a:ea typeface="Calibri"/>
                <a:cs typeface="Calibri"/>
              </a:rPr>
              <a:t>.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Na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maioria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das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operadoras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, o churn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só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é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descoberto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quando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já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aconteceu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tarde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demais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qualquer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oferta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retenção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fazer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diferença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09EB6B66-7E05-6BE9-88EE-BF3C9EDE589D}"/>
              </a:ext>
            </a:extLst>
          </p:cNvPr>
          <p:cNvSpPr/>
          <p:nvPr/>
        </p:nvSpPr>
        <p:spPr>
          <a:xfrm>
            <a:off x="5983286" y="4327751"/>
            <a:ext cx="444727" cy="289378"/>
          </a:xfrm>
          <a:prstGeom prst="rightArrow">
            <a:avLst/>
          </a:prstGeom>
          <a:solidFill>
            <a:srgbClr val="5771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44546A"/>
              </a:solidFill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EF3B6891-7DA7-126A-06AF-C44BAB54AD9C}"/>
              </a:ext>
            </a:extLst>
          </p:cNvPr>
          <p:cNvSpPr/>
          <p:nvPr/>
        </p:nvSpPr>
        <p:spPr>
          <a:xfrm>
            <a:off x="6685869" y="3618139"/>
            <a:ext cx="4701721" cy="15598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733599C6-FA45-635A-D8C2-789815FC8E07}"/>
              </a:ext>
            </a:extLst>
          </p:cNvPr>
          <p:cNvSpPr/>
          <p:nvPr/>
        </p:nvSpPr>
        <p:spPr>
          <a:xfrm>
            <a:off x="8617132" y="4305661"/>
            <a:ext cx="1049382" cy="87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0000"/>
              </a:lnSpc>
            </a:pPr>
            <a:r>
              <a:rPr lang="en-US" sz="4400" b="1">
                <a:solidFill>
                  <a:srgbClr val="D98E3F"/>
                </a:solidFill>
                <a:latin typeface="Calibri"/>
                <a:ea typeface="Calibri"/>
                <a:cs typeface="Calibri"/>
              </a:rPr>
              <a:t>40%</a:t>
            </a:r>
            <a:endParaRPr lang="en-US" sz="4400" b="1">
              <a:solidFill>
                <a:srgbClr val="D98E3F"/>
              </a:solidFill>
              <a:ea typeface="Calibri"/>
              <a:cs typeface="Calibri"/>
            </a:endParaRPr>
          </a:p>
        </p:txBody>
      </p:sp>
      <p:sp>
        <p:nvSpPr>
          <p:cNvPr id="27" name="CaixaDeTexto 21">
            <a:extLst>
              <a:ext uri="{FF2B5EF4-FFF2-40B4-BE49-F238E27FC236}">
                <a16:creationId xmlns:a16="http://schemas.microsoft.com/office/drawing/2014/main" id="{A8ED00DE-ED4C-6F34-6076-938B022D7910}"/>
              </a:ext>
            </a:extLst>
          </p:cNvPr>
          <p:cNvSpPr txBox="1"/>
          <p:nvPr/>
        </p:nvSpPr>
        <p:spPr>
          <a:xfrm>
            <a:off x="6604000" y="3719285"/>
            <a:ext cx="4913085" cy="110799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Contrato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mês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 a 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mês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, 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cliente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 novo e 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fibra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óptica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 — 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essa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combinação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sozinha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já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aponta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 um 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risco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 de 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cancelamento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 de 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mais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 de </a:t>
            </a:r>
            <a:endParaRPr lang="pt-BR" sz="1600" b="1">
              <a:solidFill>
                <a:srgbClr val="5E7C94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pt-BR" b="1" dirty="0">
              <a:ea typeface="Calibri"/>
              <a:cs typeface="Calibri"/>
            </a:endParaRP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40E10715-3E6E-CCD2-0B3F-CC3F9489AA77}"/>
              </a:ext>
            </a:extLst>
          </p:cNvPr>
          <p:cNvSpPr/>
          <p:nvPr/>
        </p:nvSpPr>
        <p:spPr>
          <a:xfrm>
            <a:off x="6693125" y="2050595"/>
            <a:ext cx="4694463" cy="13856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EA67304E-DA84-A297-1662-859FF16F5E5A}"/>
              </a:ext>
            </a:extLst>
          </p:cNvPr>
          <p:cNvSpPr/>
          <p:nvPr/>
        </p:nvSpPr>
        <p:spPr>
          <a:xfrm>
            <a:off x="6959600" y="1925320"/>
            <a:ext cx="4050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D98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em cada 4</a:t>
            </a:r>
            <a:endParaRPr lang="en-US" sz="44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7D1FC4BF-AFB9-2F21-BCBC-AD9FA3498967}"/>
              </a:ext>
            </a:extLst>
          </p:cNvPr>
          <p:cNvSpPr/>
          <p:nvPr/>
        </p:nvSpPr>
        <p:spPr>
          <a:xfrm>
            <a:off x="7233920" y="2708366"/>
            <a:ext cx="3502152" cy="5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clientes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desta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operadora</a:t>
            </a:r>
            <a:endParaRPr lang="en-US" sz="1600" b="1" dirty="0">
              <a:solidFill>
                <a:srgbClr val="5E7C94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30000"/>
              </a:lnSpc>
            </a:pP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cancela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serviço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base 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atual</a:t>
            </a:r>
            <a:endParaRPr lang="en-US" sz="1600" b="1" dirty="0">
              <a:solidFill>
                <a:srgbClr val="5E7C94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missão: não parar no notebook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não era treinar um modelo qualquer — era construir o ciclo completo de Machine Learning Engineering, da pergunta de negócio a um sistema rodando de verdade.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65276" y="2880360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EEF2F5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93876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C3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93876" y="3749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3876" y="42519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os dados e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que importa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564" y="3950208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71316" y="2880360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EEF2F5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899916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C3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899916" y="3749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899916" y="42519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e comparar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 rigor</a:t>
            </a:r>
            <a:endParaRPr lang="en-US" sz="12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604" y="3950208"/>
            <a:ext cx="237744" cy="23774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77356" y="2880360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EEF2F5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505956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C3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505956" y="3749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505956" y="42519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o modelo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serviço real</a:t>
            </a:r>
            <a:endParaRPr lang="en-US" sz="12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644" y="3950208"/>
            <a:ext cx="237744" cy="23774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883396" y="2880360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EEF2F5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9111996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C3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9111996" y="3749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9111996" y="42519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Documentar, monitorar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colocar no ar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22960" y="64465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– MLE10 – Machine Learning Engineering    |    github.com/tiagotff/FIAP_MLE10_TC1    |    https://www.linkedin.com/in/tiagofaustino91/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modelos empataram. Um deveria vencer.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Treinei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uma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rede neural (MLP,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PyTorch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) e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comparei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com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três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baselines.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Estatisticamente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quatro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chegaram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quase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no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mesmo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lugar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todos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torno</a:t>
            </a:r>
            <a:r>
              <a:rPr lang="en-US" sz="160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de 0,84 de AUC-ROC. 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A 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decisão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real 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só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apareceu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quando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perguntei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: qual 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modelo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custa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menos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dinheiro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errado</a:t>
            </a:r>
            <a:r>
              <a:rPr lang="en-US" sz="1600" b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?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944204"/>
              </p:ext>
            </p:extLst>
          </p:nvPr>
        </p:nvGraphicFramePr>
        <p:xfrm>
          <a:off x="822960" y="3063240"/>
          <a:ext cx="10543032" cy="2743200"/>
        </p:xfrm>
        <a:graphic>
          <a:graphicData uri="http://schemas.openxmlformats.org/drawingml/2006/table">
            <a:tbl>
              <a:tblPr/>
              <a:tblGrid>
                <a:gridCol w="3136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financeiro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kern="1200" noProof="0">
                          <a:solidFill>
                            <a:srgbClr val="5E7C94"/>
                          </a:solidFill>
                          <a:latin typeface="Calibri"/>
                          <a:ea typeface="Calibri"/>
                          <a:cs typeface="Calibri"/>
                        </a:rPr>
                        <a:t>Dummy Classifier</a:t>
                      </a:r>
                      <a:endParaRPr lang="pt-BR" sz="1300" kern="1200">
                        <a:solidFill>
                          <a:srgbClr val="5E7C94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lvl="0" indent="0">
                        <a:buNone/>
                      </a:pPr>
                      <a:endParaRPr lang="en-US" sz="1300" kern="1200" dirty="0">
                        <a:solidFill>
                          <a:srgbClr val="5E7C94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kern="1200" dirty="0">
                          <a:solidFill>
                            <a:srgbClr val="5E7C94"/>
                          </a:solidFill>
                          <a:latin typeface="Calibri"/>
                          <a:ea typeface="Calibri"/>
                          <a:cs typeface="Calibri"/>
                        </a:rPr>
                        <a:t>0,52</a:t>
                      </a: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kern="1200" dirty="0">
                          <a:solidFill>
                            <a:srgbClr val="5E7C94"/>
                          </a:solidFill>
                          <a:latin typeface="Calibri"/>
                          <a:ea typeface="Calibri"/>
                          <a:cs typeface="Calibri"/>
                        </a:rPr>
                        <a:t>0,29</a:t>
                      </a: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kern="1200" dirty="0" err="1">
                          <a:solidFill>
                            <a:srgbClr val="5E7C94"/>
                          </a:solidFill>
                          <a:latin typeface="Calibri"/>
                          <a:ea typeface="Calibri"/>
                          <a:cs typeface="Calibri"/>
                        </a:rPr>
                        <a:t>perde</a:t>
                      </a:r>
                      <a:r>
                        <a:rPr lang="en-US" sz="1300" kern="1200" dirty="0">
                          <a:solidFill>
                            <a:srgbClr val="5E7C94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kern="1200" dirty="0" err="1">
                          <a:solidFill>
                            <a:srgbClr val="5E7C94"/>
                          </a:solidFill>
                          <a:latin typeface="Calibri"/>
                          <a:ea typeface="Calibri"/>
                          <a:cs typeface="Calibri"/>
                        </a:rPr>
                        <a:t>dinheiro</a:t>
                      </a:r>
                      <a:endParaRPr lang="en-US" sz="1300" kern="1200" dirty="0">
                        <a:solidFill>
                          <a:srgbClr val="5E7C94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 err="1">
                          <a:solidFill>
                            <a:srgbClr val="0E1F2B"/>
                          </a:solidFill>
                          <a:latin typeface="Calibri"/>
                          <a:ea typeface="Calibri"/>
                          <a:cs typeface="Calibri"/>
                        </a:rPr>
                        <a:t>Regressão</a:t>
                      </a:r>
                      <a:r>
                        <a:rPr lang="en-US" sz="1300" b="1" dirty="0">
                          <a:solidFill>
                            <a:srgbClr val="0E1F2B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rgbClr val="0E1F2B"/>
                          </a:solidFill>
                          <a:latin typeface="Calibri"/>
                          <a:ea typeface="Calibri"/>
                          <a:cs typeface="Calibri"/>
                        </a:rPr>
                        <a:t>Logística</a:t>
                      </a:r>
                      <a:endParaRPr lang="en-US" sz="1300" dirty="0" err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ganha R$ 182 mil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E1F2B"/>
                          </a:solidFill>
                          <a:latin typeface="Calibri"/>
                          <a:ea typeface="Calibri"/>
                          <a:cs typeface="Calibri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ganha R$ 130 mil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8A5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neural (MLP)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8A5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8A5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8A5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ganha R$ 193 mil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9893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neural identifica mais clientes que realmente vão cancelar — e isso vale mais do que qualquer decimal de AUC.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64465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– MLE10 – Machine Learning Engineering    |    github.com/tiagotff/FIAP_MLE10_TC1    |    https://www.linkedin.com/in/tiagofaustino91/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ideia ao cliente: o caminho que os dados percorrem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treinado não serve para nada parado num notebook. Construímos o caminho completo para que ele chegasse a quem precisa decidir.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65276" y="2697480"/>
            <a:ext cx="2240280" cy="2697480"/>
          </a:xfrm>
          <a:prstGeom prst="roundRect">
            <a:avLst>
              <a:gd name="adj" fmla="val 4082"/>
            </a:avLst>
          </a:prstGeom>
          <a:solidFill>
            <a:srgbClr val="11304A"/>
          </a:solidFill>
          <a:ln/>
        </p:spPr>
      </p:sp>
      <p:sp>
        <p:nvSpPr>
          <p:cNvPr id="6" name="Shape 4"/>
          <p:cNvSpPr/>
          <p:nvPr/>
        </p:nvSpPr>
        <p:spPr>
          <a:xfrm>
            <a:off x="1892808" y="2953512"/>
            <a:ext cx="585216" cy="585216"/>
          </a:xfrm>
          <a:prstGeom prst="ellipse">
            <a:avLst/>
          </a:prstGeom>
          <a:solidFill>
            <a:srgbClr val="0E1F2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112" y="309981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8156" y="3703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aprende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48156" y="4251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treinada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validada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476756" y="4983480"/>
            <a:ext cx="1417320" cy="0"/>
          </a:xfrm>
          <a:prstGeom prst="line">
            <a:avLst/>
          </a:prstGeom>
          <a:noFill/>
          <a:ln w="9525">
            <a:solidFill>
              <a:srgbClr val="2A4A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02436" y="50474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564" y="3680460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671316" y="2697480"/>
            <a:ext cx="2240280" cy="2697480"/>
          </a:xfrm>
          <a:prstGeom prst="roundRect">
            <a:avLst>
              <a:gd name="adj" fmla="val 4082"/>
            </a:avLst>
          </a:prstGeom>
          <a:solidFill>
            <a:srgbClr val="11304A"/>
          </a:solidFill>
          <a:ln/>
        </p:spPr>
      </p:sp>
      <p:sp>
        <p:nvSpPr>
          <p:cNvPr id="14" name="Shape 10"/>
          <p:cNvSpPr/>
          <p:nvPr/>
        </p:nvSpPr>
        <p:spPr>
          <a:xfrm>
            <a:off x="4498848" y="2953512"/>
            <a:ext cx="585216" cy="585216"/>
          </a:xfrm>
          <a:prstGeom prst="ellipse">
            <a:avLst/>
          </a:prstGeom>
          <a:solidFill>
            <a:srgbClr val="0E1F2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309981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54196" y="3703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guardado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3854196" y="4251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na nuvem,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a qualquer hora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082796" y="4983480"/>
            <a:ext cx="1417320" cy="0"/>
          </a:xfrm>
          <a:prstGeom prst="line">
            <a:avLst/>
          </a:prstGeom>
          <a:noFill/>
          <a:ln w="9525">
            <a:solidFill>
              <a:srgbClr val="2A4A6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808476" y="50474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0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604" y="3680460"/>
            <a:ext cx="237744" cy="23774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277356" y="2697480"/>
            <a:ext cx="2240280" cy="2697480"/>
          </a:xfrm>
          <a:prstGeom prst="roundRect">
            <a:avLst>
              <a:gd name="adj" fmla="val 4082"/>
            </a:avLst>
          </a:prstGeom>
          <a:solidFill>
            <a:srgbClr val="11304A"/>
          </a:solidFill>
          <a:ln/>
        </p:spPr>
      </p:sp>
      <p:sp>
        <p:nvSpPr>
          <p:cNvPr id="22" name="Shape 16"/>
          <p:cNvSpPr/>
          <p:nvPr/>
        </p:nvSpPr>
        <p:spPr>
          <a:xfrm>
            <a:off x="7104888" y="2953512"/>
            <a:ext cx="585216" cy="585216"/>
          </a:xfrm>
          <a:prstGeom prst="ellipse">
            <a:avLst/>
          </a:prstGeom>
          <a:solidFill>
            <a:srgbClr val="0E1F2B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192" y="3099816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60236" y="3703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responde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460236" y="4251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API pública avalia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 em tempo real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688836" y="4983480"/>
            <a:ext cx="1417320" cy="0"/>
          </a:xfrm>
          <a:prstGeom prst="line">
            <a:avLst/>
          </a:prstGeom>
          <a:noFill/>
          <a:ln w="9525">
            <a:solidFill>
              <a:srgbClr val="2A4A63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414516" y="50474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Cloud Run</a:t>
            </a:r>
            <a:endParaRPr lang="en-US" sz="10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1644" y="3680460"/>
            <a:ext cx="237744" cy="23774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883396" y="2697480"/>
            <a:ext cx="2240280" cy="2697480"/>
          </a:xfrm>
          <a:prstGeom prst="roundRect">
            <a:avLst>
              <a:gd name="adj" fmla="val 4082"/>
            </a:avLst>
          </a:prstGeom>
          <a:solidFill>
            <a:srgbClr val="11304A"/>
          </a:solidFill>
          <a:ln/>
        </p:spPr>
      </p:sp>
      <p:sp>
        <p:nvSpPr>
          <p:cNvPr id="30" name="Shape 22"/>
          <p:cNvSpPr/>
          <p:nvPr/>
        </p:nvSpPr>
        <p:spPr>
          <a:xfrm>
            <a:off x="9710928" y="2953512"/>
            <a:ext cx="585216" cy="585216"/>
          </a:xfrm>
          <a:prstGeom prst="ellipse">
            <a:avLst/>
          </a:prstGeom>
          <a:solidFill>
            <a:srgbClr val="0E1F2B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7232" y="3099816"/>
            <a:ext cx="292608" cy="29260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066276" y="3703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decide</a:t>
            </a:r>
            <a:endParaRPr lang="en-US" sz="1450" dirty="0"/>
          </a:p>
        </p:txBody>
      </p:sp>
      <p:sp>
        <p:nvSpPr>
          <p:cNvPr id="33" name="Text 24"/>
          <p:cNvSpPr/>
          <p:nvPr/>
        </p:nvSpPr>
        <p:spPr>
          <a:xfrm>
            <a:off x="9066276" y="4251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 time de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usam o resultado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9294876" y="4983480"/>
            <a:ext cx="1417320" cy="0"/>
          </a:xfrm>
          <a:prstGeom prst="line">
            <a:avLst/>
          </a:prstGeom>
          <a:noFill/>
          <a:ln w="9525">
            <a:solidFill>
              <a:srgbClr val="2A4A63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9020556" y="50474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822960" y="566928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modelo melhor for treinado, ele entra nesse mesmo caminho — sem reconstruir nada que já funciona.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822960" y="64465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– MLE10 – Machine Learning Engineering    |    github.com/tiagotff/FIAP_MLE10_TC1    |    https://www.linkedin.com/in/tiagofaustino91/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200" name="Title Main"/>
          <p:cNvSpPr/>
          <p:nvPr/>
        </p:nvSpPr>
        <p:spPr>
          <a:xfrm>
            <a:off x="822960" y="54864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— Previsão de Churn de Clientes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859536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Visão</a:t>
            </a:r>
            <a:r>
              <a:rPr lang="en-US" sz="95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técnica</a:t>
            </a:r>
            <a:r>
              <a:rPr lang="en-US" sz="95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ponta</a:t>
            </a:r>
            <a:r>
              <a:rPr lang="en-US" sz="950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950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ponta</a:t>
            </a:r>
          </a:p>
        </p:txBody>
      </p:sp>
      <p:sp>
        <p:nvSpPr>
          <p:cNvPr id="4" name="Shape 2"/>
          <p:cNvSpPr/>
          <p:nvPr/>
        </p:nvSpPr>
        <p:spPr>
          <a:xfrm>
            <a:off x="822960" y="1024128"/>
            <a:ext cx="2286000" cy="42062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1D7A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024128"/>
            <a:ext cx="2286000" cy="274320"/>
          </a:xfrm>
          <a:prstGeom prst="roundRect">
            <a:avLst>
              <a:gd name="adj" fmla="val 23333"/>
            </a:avLst>
          </a:prstGeom>
          <a:solidFill>
            <a:srgbClr val="1D7A4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02412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&amp; TREINAMENTO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69264" y="1408176"/>
            <a:ext cx="256032" cy="256032"/>
          </a:xfrm>
          <a:prstGeom prst="ellipse">
            <a:avLst/>
          </a:prstGeom>
          <a:solidFill>
            <a:srgbClr val="1D7A4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91" y="1464503"/>
            <a:ext cx="143378" cy="1433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6736" y="1399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Dados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69264" y="1700784"/>
            <a:ext cx="19933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3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</a:t>
            </a:r>
            <a:endParaRPr lang="en-US" sz="7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3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7.043 registros (CSV) — única base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969264" y="2267712"/>
            <a:ext cx="1993392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9264" y="2395728"/>
            <a:ext cx="256032" cy="256032"/>
          </a:xfrm>
          <a:prstGeom prst="ellipse">
            <a:avLst/>
          </a:prstGeom>
          <a:solidFill>
            <a:srgbClr val="8A5A1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591" y="2452055"/>
            <a:ext cx="143378" cy="14337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16736" y="23865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Treinamento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69264" y="2688336"/>
            <a:ext cx="19933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3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MLP 64 → 32</a:t>
            </a:r>
            <a:endParaRPr lang="en-US" sz="7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3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treino reprodutível (seed fixa)</a:t>
            </a:r>
            <a:endParaRPr lang="en-US" sz="730" dirty="0"/>
          </a:p>
        </p:txBody>
      </p:sp>
      <p:sp>
        <p:nvSpPr>
          <p:cNvPr id="16" name="Shape 12"/>
          <p:cNvSpPr/>
          <p:nvPr/>
        </p:nvSpPr>
        <p:spPr>
          <a:xfrm>
            <a:off x="969264" y="3255264"/>
            <a:ext cx="1993392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9264" y="3383280"/>
            <a:ext cx="256032" cy="256032"/>
          </a:xfrm>
          <a:prstGeom prst="ellipse">
            <a:avLst/>
          </a:prstGeom>
          <a:solidFill>
            <a:srgbClr val="C77B0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591" y="3439607"/>
            <a:ext cx="143378" cy="14337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16736" y="33741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Experimentos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69264" y="3675888"/>
            <a:ext cx="1993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3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7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3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de experimentos</a:t>
            </a:r>
            <a:endParaRPr lang="en-US" sz="730" dirty="0"/>
          </a:p>
        </p:txBody>
      </p:sp>
      <p:sp>
        <p:nvSpPr>
          <p:cNvPr id="21" name="Shape 16"/>
          <p:cNvSpPr/>
          <p:nvPr/>
        </p:nvSpPr>
        <p:spPr>
          <a:xfrm>
            <a:off x="969264" y="4151376"/>
            <a:ext cx="1993392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69264" y="4279392"/>
            <a:ext cx="256032" cy="256032"/>
          </a:xfrm>
          <a:prstGeom prst="ellipse">
            <a:avLst/>
          </a:prstGeom>
          <a:solidFill>
            <a:srgbClr val="5E7C94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591" y="4335719"/>
            <a:ext cx="143378" cy="14337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16736" y="42702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Qualidade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969264" y="4572000"/>
            <a:ext cx="19933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3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(38 testes) · ruff (lint)</a:t>
            </a:r>
            <a:endParaRPr lang="en-US" sz="7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3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(schemas)</a:t>
            </a:r>
            <a:endParaRPr lang="en-US" sz="73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3824" y="1828800"/>
            <a:ext cx="128016" cy="12801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3383280" y="1024128"/>
            <a:ext cx="542239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9584" y="1115568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822192" y="1133856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Platform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3511296" y="1463040"/>
            <a:ext cx="5166360" cy="1371600"/>
          </a:xfrm>
          <a:prstGeom prst="roundRect">
            <a:avLst>
              <a:gd name="adj" fmla="val 4667"/>
            </a:avLst>
          </a:prstGeom>
          <a:solidFill>
            <a:srgbClr val="EAF1FB"/>
          </a:solidFill>
          <a:ln w="12700">
            <a:solidFill>
              <a:srgbClr val="C7DAF5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3621024" y="1536192"/>
            <a:ext cx="496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4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GERENCIADOS (CLOUD RUN)</a:t>
            </a:r>
            <a:endParaRPr lang="en-US" sz="700" dirty="0"/>
          </a:p>
        </p:txBody>
      </p:sp>
      <p:sp>
        <p:nvSpPr>
          <p:cNvPr id="32" name="Shape 24"/>
          <p:cNvSpPr/>
          <p:nvPr/>
        </p:nvSpPr>
        <p:spPr>
          <a:xfrm>
            <a:off x="3621024" y="1755648"/>
            <a:ext cx="22631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2464" y="1828800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931920" y="1810512"/>
            <a:ext cx="1897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churn-api</a:t>
            </a:r>
            <a:endParaRPr lang="en-US" sz="850" dirty="0"/>
          </a:p>
        </p:txBody>
      </p:sp>
      <p:sp>
        <p:nvSpPr>
          <p:cNvPr id="35" name="Text 26"/>
          <p:cNvSpPr/>
          <p:nvPr/>
        </p:nvSpPr>
        <p:spPr>
          <a:xfrm>
            <a:off x="3712464" y="2011680"/>
            <a:ext cx="20802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Inferência (FastAPI)</a:t>
            </a:r>
            <a:endParaRPr lang="en-US" sz="650" dirty="0"/>
          </a:p>
        </p:txBody>
      </p:sp>
      <p:sp>
        <p:nvSpPr>
          <p:cNvPr id="36" name="Text 27"/>
          <p:cNvSpPr/>
          <p:nvPr/>
        </p:nvSpPr>
        <p:spPr>
          <a:xfrm>
            <a:off x="3712464" y="2176272"/>
            <a:ext cx="20802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65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/infer</a:t>
            </a:r>
            <a:endParaRPr lang="en-US" sz="6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65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</a:t>
            </a:r>
            <a:endParaRPr lang="en-US" sz="6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65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/predict/batch</a:t>
            </a:r>
            <a:endParaRPr lang="en-US" sz="6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65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</a:t>
            </a:r>
            <a:endParaRPr lang="en-US" sz="6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65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</a:t>
            </a:r>
            <a:endParaRPr lang="en-US" sz="650" dirty="0"/>
          </a:p>
        </p:txBody>
      </p:sp>
      <p:sp>
        <p:nvSpPr>
          <p:cNvPr id="37" name="Shape 28"/>
          <p:cNvSpPr/>
          <p:nvPr/>
        </p:nvSpPr>
        <p:spPr>
          <a:xfrm>
            <a:off x="6268212" y="1755648"/>
            <a:ext cx="22631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9652" y="1828800"/>
            <a:ext cx="182880" cy="18288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579108" y="1810512"/>
            <a:ext cx="1897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churn-streamlit</a:t>
            </a:r>
            <a:endParaRPr lang="en-US" sz="850" dirty="0"/>
          </a:p>
        </p:txBody>
      </p:sp>
      <p:sp>
        <p:nvSpPr>
          <p:cNvPr id="40" name="Text 30"/>
          <p:cNvSpPr/>
          <p:nvPr/>
        </p:nvSpPr>
        <p:spPr>
          <a:xfrm>
            <a:off x="6359652" y="2011680"/>
            <a:ext cx="20802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50" dirty="0"/>
          </a:p>
        </p:txBody>
      </p:sp>
      <p:sp>
        <p:nvSpPr>
          <p:cNvPr id="41" name="Text 31"/>
          <p:cNvSpPr/>
          <p:nvPr/>
        </p:nvSpPr>
        <p:spPr>
          <a:xfrm>
            <a:off x="6359652" y="2176272"/>
            <a:ext cx="20802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65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Consome a API</a:t>
            </a:r>
            <a:endParaRPr lang="en-US" sz="6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65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</a:t>
            </a:r>
            <a:endParaRPr lang="en-US" sz="6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65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</a:t>
            </a:r>
            <a:endParaRPr lang="en-US" sz="6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65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gráficos</a:t>
            </a:r>
            <a:endParaRPr lang="en-US" sz="65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5939028" y="2212848"/>
            <a:ext cx="128016" cy="128016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902452" y="235000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600" dirty="0"/>
          </a:p>
        </p:txBody>
      </p:sp>
      <p:sp>
        <p:nvSpPr>
          <p:cNvPr id="44" name="Shape 33"/>
          <p:cNvSpPr/>
          <p:nvPr/>
        </p:nvSpPr>
        <p:spPr>
          <a:xfrm>
            <a:off x="3511296" y="2962656"/>
            <a:ext cx="5166360" cy="841248"/>
          </a:xfrm>
          <a:prstGeom prst="roundRect">
            <a:avLst>
              <a:gd name="adj" fmla="val 7609"/>
            </a:avLst>
          </a:prstGeom>
          <a:solidFill>
            <a:srgbClr val="EAF1F5"/>
          </a:solidFill>
          <a:ln w="12700">
            <a:solidFill>
              <a:srgbClr val="C9D9E3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3621024" y="3035808"/>
            <a:ext cx="496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4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DADOS</a:t>
            </a:r>
            <a:endParaRPr lang="en-US" sz="70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75888" y="3291840"/>
            <a:ext cx="164592" cy="164592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3877056" y="3273552"/>
            <a:ext cx="126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730" dirty="0"/>
          </a:p>
        </p:txBody>
      </p:sp>
      <p:sp>
        <p:nvSpPr>
          <p:cNvPr id="48" name="Text 36"/>
          <p:cNvSpPr/>
          <p:nvPr/>
        </p:nvSpPr>
        <p:spPr>
          <a:xfrm>
            <a:off x="3621024" y="3493008"/>
            <a:ext cx="153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62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de modelos</a:t>
            </a:r>
            <a:endParaRPr lang="en-US" sz="6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2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model.pt por versão</a:t>
            </a:r>
            <a:endParaRPr lang="en-US" sz="620" dirty="0"/>
          </a:p>
        </p:txBody>
      </p:sp>
      <p:sp>
        <p:nvSpPr>
          <p:cNvPr id="49" name="Shape 37"/>
          <p:cNvSpPr/>
          <p:nvPr/>
        </p:nvSpPr>
        <p:spPr>
          <a:xfrm>
            <a:off x="5297424" y="3236976"/>
            <a:ext cx="0" cy="502920"/>
          </a:xfrm>
          <a:prstGeom prst="line">
            <a:avLst/>
          </a:prstGeom>
          <a:noFill/>
          <a:ln w="12700">
            <a:solidFill>
              <a:srgbClr val="C9D9E3"/>
            </a:solidFill>
            <a:prstDash val="solid"/>
          </a:ln>
        </p:spPr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9448" y="3291840"/>
            <a:ext cx="164592" cy="164592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5690616" y="3273552"/>
            <a:ext cx="126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</a:t>
            </a:r>
            <a:endParaRPr lang="en-US" sz="730" dirty="0"/>
          </a:p>
        </p:txBody>
      </p:sp>
      <p:sp>
        <p:nvSpPr>
          <p:cNvPr id="52" name="Text 39"/>
          <p:cNvSpPr/>
          <p:nvPr/>
        </p:nvSpPr>
        <p:spPr>
          <a:xfrm>
            <a:off x="5434584" y="3493008"/>
            <a:ext cx="153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62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Docker</a:t>
            </a:r>
            <a:endParaRPr lang="en-US" sz="6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2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(api, streamlit)</a:t>
            </a:r>
            <a:endParaRPr lang="en-US" sz="620" dirty="0"/>
          </a:p>
        </p:txBody>
      </p:sp>
      <p:sp>
        <p:nvSpPr>
          <p:cNvPr id="53" name="Shape 40"/>
          <p:cNvSpPr/>
          <p:nvPr/>
        </p:nvSpPr>
        <p:spPr>
          <a:xfrm>
            <a:off x="7110984" y="3236976"/>
            <a:ext cx="0" cy="502920"/>
          </a:xfrm>
          <a:prstGeom prst="line">
            <a:avLst/>
          </a:prstGeom>
          <a:noFill/>
          <a:ln w="12700">
            <a:solidFill>
              <a:srgbClr val="C9D9E3"/>
            </a:solidFill>
            <a:prstDash val="solid"/>
          </a:ln>
        </p:spPr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03008" y="3291840"/>
            <a:ext cx="164592" cy="164592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7504176" y="3273552"/>
            <a:ext cx="126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model_metadata.json</a:t>
            </a:r>
            <a:endParaRPr lang="en-US" sz="730" dirty="0"/>
          </a:p>
        </p:txBody>
      </p:sp>
      <p:sp>
        <p:nvSpPr>
          <p:cNvPr id="56" name="Text 42"/>
          <p:cNvSpPr/>
          <p:nvPr/>
        </p:nvSpPr>
        <p:spPr>
          <a:xfrm>
            <a:off x="7248144" y="3493008"/>
            <a:ext cx="153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62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versionados</a:t>
            </a:r>
            <a:endParaRPr lang="en-US" sz="6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2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(métricas do treino)</a:t>
            </a:r>
            <a:endParaRPr lang="en-US" sz="620" dirty="0"/>
          </a:p>
        </p:txBody>
      </p:sp>
      <p:sp>
        <p:nvSpPr>
          <p:cNvPr id="57" name="Shape 43"/>
          <p:cNvSpPr/>
          <p:nvPr/>
        </p:nvSpPr>
        <p:spPr>
          <a:xfrm>
            <a:off x="3511296" y="3931920"/>
            <a:ext cx="5166360" cy="914400"/>
          </a:xfrm>
          <a:prstGeom prst="roundRect">
            <a:avLst>
              <a:gd name="adj" fmla="val 7000"/>
            </a:avLst>
          </a:prstGeom>
          <a:solidFill>
            <a:srgbClr val="FBF1E3"/>
          </a:solidFill>
          <a:ln w="12700">
            <a:solidFill>
              <a:srgbClr val="F0DDB8"/>
            </a:solidFill>
            <a:prstDash val="solid"/>
          </a:ln>
        </p:spPr>
      </p:sp>
      <p:sp>
        <p:nvSpPr>
          <p:cNvPr id="58" name="Text 44"/>
          <p:cNvSpPr/>
          <p:nvPr/>
        </p:nvSpPr>
        <p:spPr>
          <a:xfrm>
            <a:off x="3621024" y="4005072"/>
            <a:ext cx="496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4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 E MONITORAMENTO</a:t>
            </a:r>
            <a:endParaRPr lang="en-US" sz="700" dirty="0"/>
          </a:p>
        </p:txBody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21024" y="4242816"/>
            <a:ext cx="164592" cy="164592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3822192" y="4224528"/>
            <a:ext cx="966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</a:t>
            </a:r>
            <a:endParaRPr lang="en-US" sz="700" dirty="0"/>
          </a:p>
        </p:txBody>
      </p:sp>
      <p:sp>
        <p:nvSpPr>
          <p:cNvPr id="61" name="Text 46"/>
          <p:cNvSpPr/>
          <p:nvPr/>
        </p:nvSpPr>
        <p:spPr>
          <a:xfrm>
            <a:off x="3621024" y="4462272"/>
            <a:ext cx="1168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predições/risco</a:t>
            </a:r>
            <a:endParaRPr lang="en-US" sz="600" dirty="0"/>
          </a:p>
        </p:txBody>
      </p:sp>
      <p:pic>
        <p:nvPicPr>
          <p:cNvPr id="62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3762" y="4242816"/>
            <a:ext cx="164592" cy="164592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5154930" y="4224528"/>
            <a:ext cx="966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700" dirty="0"/>
          </a:p>
        </p:txBody>
      </p:sp>
      <p:sp>
        <p:nvSpPr>
          <p:cNvPr id="64" name="Text 48"/>
          <p:cNvSpPr/>
          <p:nvPr/>
        </p:nvSpPr>
        <p:spPr>
          <a:xfrm>
            <a:off x="4953762" y="4462272"/>
            <a:ext cx="1168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estruturado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print()</a:t>
            </a:r>
            <a:endParaRPr lang="en-US" sz="600" dirty="0"/>
          </a:p>
        </p:txBody>
      </p:sp>
      <p:pic>
        <p:nvPicPr>
          <p:cNvPr id="65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6500" y="4242816"/>
            <a:ext cx="164592" cy="164592"/>
          </a:xfrm>
          <a:prstGeom prst="rect">
            <a:avLst/>
          </a:prstGeom>
        </p:spPr>
      </p:pic>
      <p:sp>
        <p:nvSpPr>
          <p:cNvPr id="66" name="Text 49"/>
          <p:cNvSpPr/>
          <p:nvPr/>
        </p:nvSpPr>
        <p:spPr>
          <a:xfrm>
            <a:off x="6487668" y="4224528"/>
            <a:ext cx="966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alertas</a:t>
            </a:r>
            <a:endParaRPr lang="en-US" sz="700" dirty="0"/>
          </a:p>
        </p:txBody>
      </p:sp>
      <p:sp>
        <p:nvSpPr>
          <p:cNvPr id="67" name="Text 50"/>
          <p:cNvSpPr/>
          <p:nvPr/>
        </p:nvSpPr>
        <p:spPr>
          <a:xfrm>
            <a:off x="6286500" y="4462272"/>
            <a:ext cx="1168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alta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5xx</a:t>
            </a:r>
            <a:endParaRPr lang="en-US" sz="600" dirty="0"/>
          </a:p>
        </p:txBody>
      </p:sp>
      <p:pic>
        <p:nvPicPr>
          <p:cNvPr id="68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19238" y="4242816"/>
            <a:ext cx="164592" cy="164592"/>
          </a:xfrm>
          <a:prstGeom prst="rect">
            <a:avLst/>
          </a:prstGeom>
        </p:spPr>
      </p:pic>
      <p:sp>
        <p:nvSpPr>
          <p:cNvPr id="69" name="Text 51"/>
          <p:cNvSpPr/>
          <p:nvPr/>
        </p:nvSpPr>
        <p:spPr>
          <a:xfrm>
            <a:off x="7820406" y="4224528"/>
            <a:ext cx="966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</a:t>
            </a:r>
            <a:endParaRPr lang="en-US" sz="700" dirty="0"/>
          </a:p>
        </p:txBody>
      </p:sp>
      <p:sp>
        <p:nvSpPr>
          <p:cNvPr id="70" name="Text 52"/>
          <p:cNvSpPr/>
          <p:nvPr/>
        </p:nvSpPr>
        <p:spPr>
          <a:xfrm>
            <a:off x="7619238" y="4462272"/>
            <a:ext cx="1168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versão, métricas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limitações, vieses</a:t>
            </a:r>
            <a:endParaRPr lang="en-US" sz="600" dirty="0"/>
          </a:p>
        </p:txBody>
      </p:sp>
      <p:sp>
        <p:nvSpPr>
          <p:cNvPr id="71" name="Shape 53"/>
          <p:cNvSpPr/>
          <p:nvPr/>
        </p:nvSpPr>
        <p:spPr>
          <a:xfrm>
            <a:off x="9079992" y="1024128"/>
            <a:ext cx="2286000" cy="4206240"/>
          </a:xfrm>
          <a:prstGeom prst="roundRect">
            <a:avLst>
              <a:gd name="adj" fmla="val 2800"/>
            </a:avLst>
          </a:prstGeom>
          <a:solidFill>
            <a:srgbClr val="FDEEF0"/>
          </a:solidFill>
          <a:ln w="12700">
            <a:solidFill>
              <a:srgbClr val="F0C9CF"/>
            </a:solidFill>
            <a:prstDash val="solid"/>
          </a:ln>
        </p:spPr>
      </p:sp>
      <p:sp>
        <p:nvSpPr>
          <p:cNvPr id="72" name="Shape 54"/>
          <p:cNvSpPr/>
          <p:nvPr/>
        </p:nvSpPr>
        <p:spPr>
          <a:xfrm>
            <a:off x="9189720" y="1133856"/>
            <a:ext cx="2066544" cy="274320"/>
          </a:xfrm>
          <a:prstGeom prst="roundRect">
            <a:avLst>
              <a:gd name="adj" fmla="val 23333"/>
            </a:avLst>
          </a:prstGeom>
          <a:solidFill>
            <a:srgbClr val="A6334C"/>
          </a:solidFill>
          <a:ln/>
        </p:spPr>
      </p:sp>
      <p:sp>
        <p:nvSpPr>
          <p:cNvPr id="73" name="Text 55"/>
          <p:cNvSpPr/>
          <p:nvPr/>
        </p:nvSpPr>
        <p:spPr>
          <a:xfrm>
            <a:off x="9189720" y="113385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/ APLICAÇÕES</a:t>
            </a:r>
            <a:endParaRPr lang="en-US" sz="900" dirty="0"/>
          </a:p>
        </p:txBody>
      </p:sp>
      <p:sp>
        <p:nvSpPr>
          <p:cNvPr id="74" name="Text 56"/>
          <p:cNvSpPr/>
          <p:nvPr/>
        </p:nvSpPr>
        <p:spPr>
          <a:xfrm>
            <a:off x="9244584" y="153619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(Streamlit)</a:t>
            </a:r>
            <a:endParaRPr lang="en-US" sz="900" dirty="0"/>
          </a:p>
        </p:txBody>
      </p:sp>
      <p:sp>
        <p:nvSpPr>
          <p:cNvPr id="75" name="Text 57"/>
          <p:cNvSpPr/>
          <p:nvPr/>
        </p:nvSpPr>
        <p:spPr>
          <a:xfrm>
            <a:off x="9244584" y="1755648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um cliente</a:t>
            </a:r>
            <a:endParaRPr lang="en-US" sz="800" dirty="0"/>
          </a:p>
          <a:p>
            <a:pPr marL="342900" indent="-342900">
              <a:lnSpc>
                <a:spcPct val="130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planilha (CSV)</a:t>
            </a:r>
            <a:endParaRPr lang="en-US" sz="800" dirty="0"/>
          </a:p>
          <a:p>
            <a:pPr marL="342900" indent="-342900">
              <a:lnSpc>
                <a:spcPct val="130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priorizada por risco</a:t>
            </a:r>
            <a:endParaRPr lang="en-US" sz="800" dirty="0"/>
          </a:p>
        </p:txBody>
      </p:sp>
      <p:sp>
        <p:nvSpPr>
          <p:cNvPr id="76" name="Shape 58"/>
          <p:cNvSpPr/>
          <p:nvPr/>
        </p:nvSpPr>
        <p:spPr>
          <a:xfrm>
            <a:off x="9244584" y="2487168"/>
            <a:ext cx="1956816" cy="0"/>
          </a:xfrm>
          <a:prstGeom prst="line">
            <a:avLst/>
          </a:prstGeom>
          <a:noFill/>
          <a:ln w="12700">
            <a:solidFill>
              <a:srgbClr val="F0C9CF"/>
            </a:solidFill>
            <a:prstDash val="solid"/>
          </a:ln>
        </p:spPr>
      </p:sp>
      <p:sp>
        <p:nvSpPr>
          <p:cNvPr id="77" name="Text 59"/>
          <p:cNvSpPr/>
          <p:nvPr/>
        </p:nvSpPr>
        <p:spPr>
          <a:xfrm>
            <a:off x="9244584" y="257860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via API</a:t>
            </a:r>
            <a:endParaRPr lang="en-US" sz="900" dirty="0"/>
          </a:p>
        </p:txBody>
      </p:sp>
      <p:sp>
        <p:nvSpPr>
          <p:cNvPr id="78" name="Text 60"/>
          <p:cNvSpPr/>
          <p:nvPr/>
        </p:nvSpPr>
        <p:spPr>
          <a:xfrm>
            <a:off x="9244584" y="2798064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Retenção</a:t>
            </a:r>
            <a:endParaRPr lang="en-US" sz="800" dirty="0"/>
          </a:p>
          <a:p>
            <a:pPr marL="342900" indent="-342900">
              <a:lnSpc>
                <a:spcPct val="130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internos</a:t>
            </a:r>
            <a:endParaRPr lang="en-US" sz="800" dirty="0"/>
          </a:p>
          <a:p>
            <a:pPr marL="342900" indent="-342900">
              <a:lnSpc>
                <a:spcPct val="130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/ automação</a:t>
            </a:r>
            <a:endParaRPr lang="en-US" sz="800" dirty="0"/>
          </a:p>
        </p:txBody>
      </p:sp>
      <p:sp>
        <p:nvSpPr>
          <p:cNvPr id="79" name="Shape 61"/>
          <p:cNvSpPr/>
          <p:nvPr/>
        </p:nvSpPr>
        <p:spPr>
          <a:xfrm>
            <a:off x="9244584" y="3419856"/>
            <a:ext cx="1956816" cy="0"/>
          </a:xfrm>
          <a:prstGeom prst="line">
            <a:avLst/>
          </a:prstGeom>
          <a:noFill/>
          <a:ln w="12700">
            <a:solidFill>
              <a:srgbClr val="F0C9CF"/>
            </a:solidFill>
            <a:prstDash val="solid"/>
          </a:ln>
        </p:spPr>
      </p:sp>
      <p:sp>
        <p:nvSpPr>
          <p:cNvPr id="80" name="Text 62"/>
          <p:cNvSpPr/>
          <p:nvPr/>
        </p:nvSpPr>
        <p:spPr>
          <a:xfrm>
            <a:off x="9244584" y="3511296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endParaRPr lang="en-US" sz="900" dirty="0"/>
          </a:p>
        </p:txBody>
      </p:sp>
      <p:sp>
        <p:nvSpPr>
          <p:cNvPr id="81" name="Text 63"/>
          <p:cNvSpPr/>
          <p:nvPr/>
        </p:nvSpPr>
        <p:spPr>
          <a:xfrm>
            <a:off x="9244584" y="372160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CRM / Retenção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de negócio</a:t>
            </a:r>
            <a:endParaRPr lang="en-US" sz="800" dirty="0"/>
          </a:p>
        </p:txBody>
      </p:sp>
      <p:pic>
        <p:nvPicPr>
          <p:cNvPr id="82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82308" y="1762760"/>
            <a:ext cx="128016" cy="128016"/>
          </a:xfrm>
          <a:prstGeom prst="rect">
            <a:avLst/>
          </a:prstGeom>
        </p:spPr>
      </p:pic>
      <p:sp>
        <p:nvSpPr>
          <p:cNvPr id="83" name="Shape 64"/>
          <p:cNvSpPr/>
          <p:nvPr/>
        </p:nvSpPr>
        <p:spPr>
          <a:xfrm>
            <a:off x="822960" y="5413248"/>
            <a:ext cx="10543032" cy="932688"/>
          </a:xfrm>
          <a:prstGeom prst="roundRect">
            <a:avLst>
              <a:gd name="adj" fmla="val 6863"/>
            </a:avLst>
          </a:prstGeom>
          <a:solidFill>
            <a:srgbClr val="EAF1F5"/>
          </a:solidFill>
          <a:ln w="12700">
            <a:solidFill>
              <a:srgbClr val="C9D9E3"/>
            </a:solidFill>
            <a:prstDash val="solid"/>
          </a:ln>
        </p:spPr>
      </p:sp>
      <p:sp>
        <p:nvSpPr>
          <p:cNvPr id="84" name="Text 65"/>
          <p:cNvSpPr/>
          <p:nvPr/>
        </p:nvSpPr>
        <p:spPr>
          <a:xfrm>
            <a:off x="987552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850" dirty="0"/>
          </a:p>
        </p:txBody>
      </p:sp>
      <p:sp>
        <p:nvSpPr>
          <p:cNvPr id="85" name="Shape 66"/>
          <p:cNvSpPr/>
          <p:nvPr/>
        </p:nvSpPr>
        <p:spPr>
          <a:xfrm>
            <a:off x="1602486" y="5705856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6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62836" y="5766206"/>
            <a:ext cx="153619" cy="153619"/>
          </a:xfrm>
          <a:prstGeom prst="rect">
            <a:avLst/>
          </a:prstGeom>
        </p:spPr>
      </p:pic>
      <p:sp>
        <p:nvSpPr>
          <p:cNvPr id="87" name="Shape 67"/>
          <p:cNvSpPr/>
          <p:nvPr/>
        </p:nvSpPr>
        <p:spPr>
          <a:xfrm>
            <a:off x="1602486" y="5705856"/>
            <a:ext cx="274320" cy="274320"/>
          </a:xfrm>
          <a:prstGeom prst="ellipse">
            <a:avLst/>
          </a:prstGeom>
          <a:ln w="12700">
            <a:solidFill>
              <a:srgbClr val="8A5A1E"/>
            </a:solidFill>
            <a:prstDash val="solid"/>
          </a:ln>
        </p:spPr>
      </p:sp>
      <p:sp>
        <p:nvSpPr>
          <p:cNvPr id="88" name="Text 68"/>
          <p:cNvSpPr/>
          <p:nvPr/>
        </p:nvSpPr>
        <p:spPr>
          <a:xfrm>
            <a:off x="1005840" y="5998464"/>
            <a:ext cx="14676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Code Commit</a:t>
            </a:r>
            <a:endParaRPr lang="en-US" sz="730" dirty="0"/>
          </a:p>
        </p:txBody>
      </p:sp>
      <p:sp>
        <p:nvSpPr>
          <p:cNvPr id="89" name="Text 69"/>
          <p:cNvSpPr/>
          <p:nvPr/>
        </p:nvSpPr>
        <p:spPr>
          <a:xfrm>
            <a:off x="1005840" y="6153912"/>
            <a:ext cx="14676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630" dirty="0"/>
          </a:p>
        </p:txBody>
      </p:sp>
      <p:pic>
        <p:nvPicPr>
          <p:cNvPr id="90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0028" y="5797296"/>
            <a:ext cx="146304" cy="146304"/>
          </a:xfrm>
          <a:prstGeom prst="rect">
            <a:avLst/>
          </a:prstGeom>
        </p:spPr>
      </p:pic>
      <p:sp>
        <p:nvSpPr>
          <p:cNvPr id="91" name="Shape 70"/>
          <p:cNvSpPr/>
          <p:nvPr/>
        </p:nvSpPr>
        <p:spPr>
          <a:xfrm>
            <a:off x="3344418" y="5705856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2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04768" y="5766206"/>
            <a:ext cx="153619" cy="153619"/>
          </a:xfrm>
          <a:prstGeom prst="rect">
            <a:avLst/>
          </a:prstGeom>
        </p:spPr>
      </p:pic>
      <p:sp>
        <p:nvSpPr>
          <p:cNvPr id="93" name="Shape 71"/>
          <p:cNvSpPr/>
          <p:nvPr/>
        </p:nvSpPr>
        <p:spPr>
          <a:xfrm>
            <a:off x="3344418" y="5705856"/>
            <a:ext cx="274320" cy="274320"/>
          </a:xfrm>
          <a:prstGeom prst="ellipse">
            <a:avLst/>
          </a:prstGeom>
          <a:ln w="12700">
            <a:solidFill>
              <a:srgbClr val="8A5A1E"/>
            </a:solidFill>
            <a:prstDash val="solid"/>
          </a:ln>
        </p:spPr>
      </p:sp>
      <p:sp>
        <p:nvSpPr>
          <p:cNvPr id="94" name="Text 72"/>
          <p:cNvSpPr/>
          <p:nvPr/>
        </p:nvSpPr>
        <p:spPr>
          <a:xfrm>
            <a:off x="2747772" y="5998464"/>
            <a:ext cx="14676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Testes</a:t>
            </a:r>
            <a:endParaRPr lang="en-US" sz="730" dirty="0"/>
          </a:p>
        </p:txBody>
      </p:sp>
      <p:sp>
        <p:nvSpPr>
          <p:cNvPr id="95" name="Text 73"/>
          <p:cNvSpPr/>
          <p:nvPr/>
        </p:nvSpPr>
        <p:spPr>
          <a:xfrm>
            <a:off x="2747772" y="6153912"/>
            <a:ext cx="14676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ruff</a:t>
            </a:r>
            <a:endParaRPr lang="en-US" sz="630" dirty="0"/>
          </a:p>
        </p:txBody>
      </p:sp>
      <p:pic>
        <p:nvPicPr>
          <p:cNvPr id="96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960" y="5797296"/>
            <a:ext cx="146304" cy="146304"/>
          </a:xfrm>
          <a:prstGeom prst="rect">
            <a:avLst/>
          </a:prstGeom>
        </p:spPr>
      </p:pic>
      <p:sp>
        <p:nvSpPr>
          <p:cNvPr id="97" name="Shape 74"/>
          <p:cNvSpPr/>
          <p:nvPr/>
        </p:nvSpPr>
        <p:spPr>
          <a:xfrm>
            <a:off x="5086350" y="5705856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8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46700" y="5766206"/>
            <a:ext cx="153619" cy="153619"/>
          </a:xfrm>
          <a:prstGeom prst="rect">
            <a:avLst/>
          </a:prstGeom>
        </p:spPr>
      </p:pic>
      <p:sp>
        <p:nvSpPr>
          <p:cNvPr id="99" name="Shape 75"/>
          <p:cNvSpPr/>
          <p:nvPr/>
        </p:nvSpPr>
        <p:spPr>
          <a:xfrm>
            <a:off x="5086350" y="5705856"/>
            <a:ext cx="274320" cy="274320"/>
          </a:xfrm>
          <a:prstGeom prst="ellipse">
            <a:avLst/>
          </a:prstGeom>
          <a:ln w="12700">
            <a:solidFill>
              <a:srgbClr val="8A5A1E"/>
            </a:solidFill>
            <a:prstDash val="solid"/>
          </a:ln>
        </p:spPr>
      </p:sp>
      <p:sp>
        <p:nvSpPr>
          <p:cNvPr id="100" name="Text 76"/>
          <p:cNvSpPr/>
          <p:nvPr/>
        </p:nvSpPr>
        <p:spPr>
          <a:xfrm>
            <a:off x="4489704" y="5998464"/>
            <a:ext cx="14676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Imagem</a:t>
            </a:r>
            <a:endParaRPr lang="en-US" sz="730" dirty="0"/>
          </a:p>
        </p:txBody>
      </p:sp>
      <p:sp>
        <p:nvSpPr>
          <p:cNvPr id="101" name="Text 77"/>
          <p:cNvSpPr/>
          <p:nvPr/>
        </p:nvSpPr>
        <p:spPr>
          <a:xfrm>
            <a:off x="4489704" y="6153912"/>
            <a:ext cx="14676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630" dirty="0"/>
          </a:p>
        </p:txBody>
      </p:sp>
      <p:pic>
        <p:nvPicPr>
          <p:cNvPr id="102" name="Image 2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3892" y="5797296"/>
            <a:ext cx="146304" cy="146304"/>
          </a:xfrm>
          <a:prstGeom prst="rect">
            <a:avLst/>
          </a:prstGeom>
        </p:spPr>
      </p:pic>
      <p:sp>
        <p:nvSpPr>
          <p:cNvPr id="103" name="Shape 78"/>
          <p:cNvSpPr/>
          <p:nvPr/>
        </p:nvSpPr>
        <p:spPr>
          <a:xfrm>
            <a:off x="6828282" y="5705856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4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88632" y="5766206"/>
            <a:ext cx="153619" cy="153619"/>
          </a:xfrm>
          <a:prstGeom prst="rect">
            <a:avLst/>
          </a:prstGeom>
        </p:spPr>
      </p:pic>
      <p:sp>
        <p:nvSpPr>
          <p:cNvPr id="105" name="Shape 79"/>
          <p:cNvSpPr/>
          <p:nvPr/>
        </p:nvSpPr>
        <p:spPr>
          <a:xfrm>
            <a:off x="6828282" y="5705856"/>
            <a:ext cx="274320" cy="274320"/>
          </a:xfrm>
          <a:prstGeom prst="ellipse">
            <a:avLst/>
          </a:prstGeom>
          <a:ln w="12700">
            <a:solidFill>
              <a:srgbClr val="8A5A1E"/>
            </a:solidFill>
            <a:prstDash val="solid"/>
          </a:ln>
        </p:spPr>
      </p:sp>
      <p:sp>
        <p:nvSpPr>
          <p:cNvPr id="106" name="Text 80"/>
          <p:cNvSpPr/>
          <p:nvPr/>
        </p:nvSpPr>
        <p:spPr>
          <a:xfrm>
            <a:off x="6231636" y="5998464"/>
            <a:ext cx="14676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Cloud Build</a:t>
            </a:r>
            <a:endParaRPr lang="en-US" sz="730" dirty="0"/>
          </a:p>
        </p:txBody>
      </p:sp>
      <p:sp>
        <p:nvSpPr>
          <p:cNvPr id="107" name="Text 81"/>
          <p:cNvSpPr/>
          <p:nvPr/>
        </p:nvSpPr>
        <p:spPr>
          <a:xfrm>
            <a:off x="6231636" y="6153912"/>
            <a:ext cx="14676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gerenciado</a:t>
            </a:r>
            <a:endParaRPr lang="en-US" sz="630" dirty="0"/>
          </a:p>
        </p:txBody>
      </p:sp>
      <p:pic>
        <p:nvPicPr>
          <p:cNvPr id="108" name="Image 2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24" y="5797296"/>
            <a:ext cx="146304" cy="146304"/>
          </a:xfrm>
          <a:prstGeom prst="rect">
            <a:avLst/>
          </a:prstGeom>
        </p:spPr>
      </p:pic>
      <p:sp>
        <p:nvSpPr>
          <p:cNvPr id="109" name="Shape 82"/>
          <p:cNvSpPr/>
          <p:nvPr/>
        </p:nvSpPr>
        <p:spPr>
          <a:xfrm>
            <a:off x="8570214" y="5705856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0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30564" y="5766206"/>
            <a:ext cx="153619" cy="153619"/>
          </a:xfrm>
          <a:prstGeom prst="rect">
            <a:avLst/>
          </a:prstGeom>
        </p:spPr>
      </p:pic>
      <p:sp>
        <p:nvSpPr>
          <p:cNvPr id="111" name="Shape 83"/>
          <p:cNvSpPr/>
          <p:nvPr/>
        </p:nvSpPr>
        <p:spPr>
          <a:xfrm>
            <a:off x="8570214" y="5705856"/>
            <a:ext cx="274320" cy="274320"/>
          </a:xfrm>
          <a:prstGeom prst="ellipse">
            <a:avLst/>
          </a:prstGeom>
          <a:ln w="12700">
            <a:solidFill>
              <a:srgbClr val="8A5A1E"/>
            </a:solidFill>
            <a:prstDash val="solid"/>
          </a:ln>
        </p:spPr>
      </p:sp>
      <p:sp>
        <p:nvSpPr>
          <p:cNvPr id="112" name="Text 84"/>
          <p:cNvSpPr/>
          <p:nvPr/>
        </p:nvSpPr>
        <p:spPr>
          <a:xfrm>
            <a:off x="7973568" y="5998464"/>
            <a:ext cx="14676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Deploy</a:t>
            </a:r>
            <a:endParaRPr lang="en-US" sz="730" dirty="0"/>
          </a:p>
        </p:txBody>
      </p:sp>
      <p:sp>
        <p:nvSpPr>
          <p:cNvPr id="113" name="Text 85"/>
          <p:cNvSpPr/>
          <p:nvPr/>
        </p:nvSpPr>
        <p:spPr>
          <a:xfrm>
            <a:off x="7973568" y="6153912"/>
            <a:ext cx="14676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630" dirty="0"/>
          </a:p>
        </p:txBody>
      </p:sp>
      <p:pic>
        <p:nvPicPr>
          <p:cNvPr id="114" name="Image 2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7756" y="5797296"/>
            <a:ext cx="146304" cy="146304"/>
          </a:xfrm>
          <a:prstGeom prst="rect">
            <a:avLst/>
          </a:prstGeom>
        </p:spPr>
      </p:pic>
      <p:sp>
        <p:nvSpPr>
          <p:cNvPr id="115" name="Shape 86"/>
          <p:cNvSpPr/>
          <p:nvPr/>
        </p:nvSpPr>
        <p:spPr>
          <a:xfrm>
            <a:off x="10312146" y="5705856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6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72496" y="5766206"/>
            <a:ext cx="153619" cy="153619"/>
          </a:xfrm>
          <a:prstGeom prst="rect">
            <a:avLst/>
          </a:prstGeom>
        </p:spPr>
      </p:pic>
      <p:sp>
        <p:nvSpPr>
          <p:cNvPr id="117" name="Shape 87"/>
          <p:cNvSpPr/>
          <p:nvPr/>
        </p:nvSpPr>
        <p:spPr>
          <a:xfrm>
            <a:off x="10312146" y="5705856"/>
            <a:ext cx="274320" cy="274320"/>
          </a:xfrm>
          <a:prstGeom prst="ellipse">
            <a:avLst/>
          </a:prstGeom>
          <a:ln w="12700">
            <a:solidFill>
              <a:srgbClr val="8A5A1E"/>
            </a:solidFill>
            <a:prstDash val="solid"/>
          </a:ln>
        </p:spPr>
      </p:sp>
      <p:sp>
        <p:nvSpPr>
          <p:cNvPr id="118" name="Text 88"/>
          <p:cNvSpPr/>
          <p:nvPr/>
        </p:nvSpPr>
        <p:spPr>
          <a:xfrm>
            <a:off x="9715500" y="5998464"/>
            <a:ext cx="14676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E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Versiona Modelo</a:t>
            </a:r>
            <a:endParaRPr lang="en-US" sz="730" dirty="0"/>
          </a:p>
        </p:txBody>
      </p:sp>
      <p:sp>
        <p:nvSpPr>
          <p:cNvPr id="119" name="Text 89"/>
          <p:cNvSpPr/>
          <p:nvPr/>
        </p:nvSpPr>
        <p:spPr>
          <a:xfrm>
            <a:off x="9715500" y="6153912"/>
            <a:ext cx="14676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630" dirty="0"/>
          </a:p>
        </p:txBody>
      </p:sp>
      <p:sp>
        <p:nvSpPr>
          <p:cNvPr id="121" name="Text 91"/>
          <p:cNvSpPr/>
          <p:nvPr/>
        </p:nvSpPr>
        <p:spPr>
          <a:xfrm>
            <a:off x="822960" y="6382512"/>
            <a:ext cx="10543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70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dados / requisição     </a:t>
            </a:r>
            <a:r>
              <a:rPr lang="en-US" sz="700" b="1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⇢  </a:t>
            </a:r>
            <a:r>
              <a:rPr lang="en-US" sz="70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controle / CI-CD</a:t>
            </a:r>
            <a:endParaRPr lang="en-US" sz="700" dirty="0"/>
          </a:p>
        </p:txBody>
      </p:sp>
      <p:sp>
        <p:nvSpPr>
          <p:cNvPr id="122" name="Text 92"/>
          <p:cNvSpPr/>
          <p:nvPr/>
        </p:nvSpPr>
        <p:spPr>
          <a:xfrm>
            <a:off x="822960" y="64465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– MLE10 – Machine Learning Engineering    |    github.com/tiagotff/FIAP_MLE10_TC1    |    https://www.linkedin.com/in/tiagofaustino91/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O </a:t>
            </a:r>
            <a:r>
              <a:rPr lang="en-US" sz="3200" b="1" dirty="0" err="1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que</a:t>
            </a:r>
            <a:r>
              <a:rPr lang="en-US" sz="3200" b="1" dirty="0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essa</a:t>
            </a:r>
            <a:r>
              <a:rPr lang="en-US" sz="3200" b="1" dirty="0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 jornada </a:t>
            </a:r>
            <a:r>
              <a:rPr lang="en-US" sz="3200" b="1" dirty="0" err="1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deixou</a:t>
            </a:r>
            <a:r>
              <a:rPr lang="en-US" sz="3200" b="1" dirty="0">
                <a:solidFill>
                  <a:srgbClr val="0E1F2B"/>
                </a:solidFill>
                <a:latin typeface="Cambria"/>
                <a:ea typeface="Cambria"/>
                <a:cs typeface="Cambria" pitchFamily="34" charset="-120"/>
              </a:rPr>
              <a:t> pronto?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61944" cy="2331720"/>
          </a:xfrm>
          <a:prstGeom prst="roundRect">
            <a:avLst>
              <a:gd name="adj" fmla="val 3922"/>
            </a:avLst>
          </a:prstGeom>
          <a:solidFill>
            <a:srgbClr val="EEF2F5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286000"/>
            <a:ext cx="2904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8A5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em cada 10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051560" y="3200400"/>
            <a:ext cx="2904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que vão cancelar, o modelo identifica a tempo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13504" y="1965960"/>
            <a:ext cx="3361944" cy="2331720"/>
          </a:xfrm>
          <a:prstGeom prst="roundRect">
            <a:avLst>
              <a:gd name="adj" fmla="val 3922"/>
            </a:avLst>
          </a:prstGeom>
          <a:solidFill>
            <a:srgbClr val="EEF2F5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42104" y="2286000"/>
            <a:ext cx="2904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8A5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quase R$ 192 mil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642104" y="3200400"/>
            <a:ext cx="2904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valor preservado, só no grupo de teste avaliado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04048" y="1965960"/>
            <a:ext cx="3361944" cy="2331720"/>
          </a:xfrm>
          <a:prstGeom prst="roundRect">
            <a:avLst>
              <a:gd name="adj" fmla="val 3922"/>
            </a:avLst>
          </a:prstGeom>
          <a:solidFill>
            <a:srgbClr val="EEF2F5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32648" y="2286000"/>
            <a:ext cx="2904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8A5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ar, agora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232648" y="3200400"/>
            <a:ext cx="2904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 painel públicos, rodando em nuvem real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709160"/>
            <a:ext cx="10543032" cy="0"/>
          </a:xfrm>
          <a:prstGeom prst="line">
            <a:avLst/>
          </a:prstGeom>
          <a:noFill/>
          <a:ln w="12700">
            <a:solidFill>
              <a:srgbClr val="DC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98348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A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lição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mais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importou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: o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modelo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com a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melhor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nota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técnica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nem sempre é o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melhor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para o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negócio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— vi 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isso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quando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parei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medir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só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acerto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, e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comecei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medir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i="1" dirty="0" err="1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dinheiro</a:t>
            </a:r>
            <a:r>
              <a:rPr lang="en-US" sz="1600" b="1" i="1" dirty="0">
                <a:solidFill>
                  <a:srgbClr val="5E7C9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0116" y="1051560"/>
            <a:ext cx="1188720" cy="1188720"/>
          </a:xfrm>
          <a:prstGeom prst="ellipse">
            <a:avLst/>
          </a:prstGeom>
          <a:solidFill>
            <a:srgbClr val="11304A"/>
          </a:solidFill>
          <a:ln w="19050">
            <a:solidFill>
              <a:srgbClr val="3A5A78"/>
            </a:solidFill>
            <a:prstDash val="dash"/>
          </a:ln>
        </p:spPr>
      </p:sp>
      <p:pic>
        <p:nvPicPr>
          <p:cNvPr id="3" name="Image 0" descr="A person with long hair wearing glasses  O conteúdo gerado por IA pode estar incorret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845" y="1030050"/>
            <a:ext cx="1226980" cy="1263265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32888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Tiago de Freitas Faustino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0" y="302666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1  ·  FIAP MLE10  ·  Machine Learning Engineering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665476" y="347472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1304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644" y="3621024"/>
            <a:ext cx="274320" cy="274320"/>
          </a:xfrm>
          <a:prstGeom prst="rect">
            <a:avLst/>
          </a:prstGeom>
        </p:spPr>
      </p:pic>
      <p:sp>
        <p:nvSpPr>
          <p:cNvPr id="9" name="Text 5">
            <a:hlinkClick r:id="rId5"/>
          </p:cNvPr>
          <p:cNvSpPr/>
          <p:nvPr/>
        </p:nvSpPr>
        <p:spPr>
          <a:xfrm>
            <a:off x="3232404" y="347472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github.com/tiagotff/FIAP_MLE10_TC1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31636" y="347472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1304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3621024"/>
            <a:ext cx="274320" cy="274320"/>
          </a:xfrm>
          <a:prstGeom prst="rect">
            <a:avLst/>
          </a:prstGeom>
        </p:spPr>
      </p:pic>
      <p:sp>
        <p:nvSpPr>
          <p:cNvPr id="12" name="Text 7">
            <a:hlinkClick r:id="rId7"/>
          </p:cNvPr>
          <p:cNvSpPr/>
          <p:nvPr/>
        </p:nvSpPr>
        <p:spPr>
          <a:xfrm>
            <a:off x="6798564" y="347472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linkedin.com/in/tiagofaustino91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7257" y="4374025"/>
            <a:ext cx="1218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em produção</a:t>
            </a:r>
            <a:endParaRPr lang="en-US" sz="1100" dirty="0"/>
          </a:p>
        </p:txBody>
      </p:sp>
      <p:sp>
        <p:nvSpPr>
          <p:cNvPr id="14" name="Text 9">
            <a:hlinkClick r:id="rId8"/>
          </p:cNvPr>
          <p:cNvSpPr/>
          <p:nvPr/>
        </p:nvSpPr>
        <p:spPr>
          <a:xfrm>
            <a:off x="7257" y="4593481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churn-api-855490327597.us-central1.run.app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8857" y="5071582"/>
            <a:ext cx="1218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interativa (Swagger UI)</a:t>
            </a:r>
            <a:endParaRPr lang="en-US" sz="1100" dirty="0"/>
          </a:p>
        </p:txBody>
      </p:sp>
      <p:sp>
        <p:nvSpPr>
          <p:cNvPr id="16" name="Text 11">
            <a:hlinkClick r:id="rId9"/>
          </p:cNvPr>
          <p:cNvSpPr/>
          <p:nvPr/>
        </p:nvSpPr>
        <p:spPr>
          <a:xfrm>
            <a:off x="108857" y="5291038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churn-api-855490327597.us-central1.run.app/docs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Previsao de Churn - Tech Challenge 1</dc:title>
  <dc:subject>PptxGenJS Presentation</dc:subject>
  <dc:creator>Grupo Tech Challenge 1 - FIAP MLE10</dc:creator>
  <cp:lastModifiedBy>Grupo Tech Challenge 1 - FIAP MLE10</cp:lastModifiedBy>
  <cp:revision>254</cp:revision>
  <dcterms:created xsi:type="dcterms:W3CDTF">2026-06-28T14:24:32Z</dcterms:created>
  <dcterms:modified xsi:type="dcterms:W3CDTF">2026-06-28T22:13:04Z</dcterms:modified>
</cp:coreProperties>
</file>